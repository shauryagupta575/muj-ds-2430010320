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d07031a-431a-3f8a-eded-b2672b54ab66}">
          <p14:sldIdLst>
            <p14:sldId id="256"/>
            <p14:sldId id="257"/>
          </p14:sldIdLst>
        </p14:section>
        <p14:section name="Method" id="{cf69bcf7-7fab-664f-b195-915e1ac722d7}">
          <p14:sldIdLst>
            <p14:sldId id="258"/>
            <p14:sldId id="259"/>
          </p14:sldIdLst>
        </p14:section>
        <p14:section name="Results" id="{352ab20c-17c1-26ff-9571-64ade533cc04}">
          <p14:sldIdLst>
            <p14:sldId id="260"/>
            <p14:sldId id="261"/>
          </p14:sldIdLst>
        </p14:section>
        <p14:section name="Comparison and innovation" id="{3e4a397e-3629-f8e4-f314-7c343a224c70}">
          <p14:sldIdLst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02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A302B"/>
                </a:solidFill>
                <a:latin typeface="+mn-lt"/>
              </a:rPr>
              <a:t>Images per split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Fire</c:v>
                </c:pt>
              </c:strCache>
            </c:strRef>
          </c:tx>
          <c:spPr>
            <a:solidFill>
              <a:srgbClr val="D948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</c:v>
                  </c:pt>
                  <c:pt idx="1">
                    <c:v>Validation</c:v>
                  </c:pt>
                  <c:pt idx="2">
                    <c:v>Test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529</c:v>
                </c:pt>
                <c:pt idx="1">
                  <c:v>113</c:v>
                </c:pt>
                <c:pt idx="2">
                  <c:v>113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No-fire</c:v>
                </c:pt>
              </c:strCache>
            </c:strRef>
          </c:tx>
          <c:spPr>
            <a:solidFill>
              <a:srgbClr val="2B8A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</c:v>
                  </c:pt>
                  <c:pt idx="1">
                    <c:v>Validation</c:v>
                  </c:pt>
                  <c:pt idx="2">
                    <c:v>Test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37</c:v>
                </c:pt>
                <c:pt idx="2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950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E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9505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9505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 (%)</c:v>
                </c:pt>
              </c:strCache>
            </c:strRef>
          </c:tx>
          <c:spPr>
            <a:solidFill>
              <a:srgbClr val="868E9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A: Underfit</c:v>
                  </c:pt>
                  <c:pt idx="1">
                    <c:v>B: No reg.</c:v>
                  </c:pt>
                  <c:pt idx="2">
                    <c:v>C: Dropout+BN</c:v>
                  </c:pt>
                  <c:pt idx="3">
                    <c:v>L1</c:v>
                  </c:pt>
                  <c:pt idx="4">
                    <c:v>L2</c:v>
                  </c:pt>
                  <c:pt idx="5">
                    <c:v>ViT-B/16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71.24</c:v>
                </c:pt>
                <c:pt idx="1">
                  <c:v>98.14</c:v>
                </c:pt>
                <c:pt idx="2">
                  <c:v>92.13</c:v>
                </c:pt>
                <c:pt idx="3">
                  <c:v>95.99</c:v>
                </c:pt>
                <c:pt idx="4">
                  <c:v>99</c:v>
                </c:pt>
                <c:pt idx="5">
                  <c:v>99.71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D9480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A: Underfit</c:v>
                  </c:pt>
                  <c:pt idx="1">
                    <c:v>B: No reg.</c:v>
                  </c:pt>
                  <c:pt idx="2">
                    <c:v>C: Dropout+BN</c:v>
                  </c:pt>
                  <c:pt idx="3">
                    <c:v>L1</c:v>
                  </c:pt>
                  <c:pt idx="4">
                    <c:v>L2</c:v>
                  </c:pt>
                  <c:pt idx="5">
                    <c:v>ViT-B/16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67.33</c:v>
                </c:pt>
                <c:pt idx="1">
                  <c:v>93.33</c:v>
                </c:pt>
                <c:pt idx="2">
                  <c:v>87.33</c:v>
                </c:pt>
                <c:pt idx="3">
                  <c:v>95.33</c:v>
                </c:pt>
                <c:pt idx="4">
                  <c:v>95.33</c:v>
                </c:pt>
                <c:pt idx="5">
                  <c:v>99.33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A3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950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50"/>
        </c:scaling>
        <c:delete val="0"/>
        <c:axPos val="l"/>
        <c:majorGridlines>
          <c:spPr>
            <a:ln w="6350" cap="flat">
              <a:solidFill>
                <a:srgbClr val="DE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9505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9505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02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A302B"/>
                </a:solidFill>
                <a:latin typeface="+mn-lt"/>
              </a:rPr>
              <a:t>Macro-F1 on the 150-image test split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868E9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68E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68E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68E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68E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68E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F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F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9480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SE + Focal (CNN)</c:v>
                  </c:pt>
                  <c:pt idx="1">
                    <c:v>Model C (CNN)</c:v>
                  </c:pt>
                  <c:pt idx="2">
                    <c:v>SE attention (CNN)</c:v>
                  </c:pt>
                  <c:pt idx="3">
                    <c:v>Model B (CNN)</c:v>
                  </c:pt>
                  <c:pt idx="4">
                    <c:v>L1 / L2 (CNN)</c:v>
                  </c:pt>
                  <c:pt idx="5">
                    <c:v>MobileNetV2</c:v>
                  </c:pt>
                  <c:pt idx="6">
                    <c:v>ResNet50</c:v>
                  </c:pt>
                  <c:pt idx="7">
                    <c:v>ViT-B/16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0.816</c:v>
                </c:pt>
                <c:pt idx="1">
                  <c:v>0.846</c:v>
                </c:pt>
                <c:pt idx="2">
                  <c:v>0.897</c:v>
                </c:pt>
                <c:pt idx="3">
                  <c:v>0.916</c:v>
                </c:pt>
                <c:pt idx="4">
                  <c:v>0.939</c:v>
                </c:pt>
                <c:pt idx="5">
                  <c:v>0.965</c:v>
                </c:pt>
                <c:pt idx="6">
                  <c:v>0.991</c:v>
                </c:pt>
                <c:pt idx="7">
                  <c:v>0.991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3A3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950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b"/>
        <c:majorGridlines>
          <c:spPr>
            <a:ln w="6350" cap="flat">
              <a:solidFill>
                <a:srgbClr val="DEE2E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9505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binary fire / no-fire image classification, comparing a pre-trained Vision Transformer with CNN baselines, plus an SE-attention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imbalance means accuracy alone is misleading: a model that always says fire scores 75.6%. That is why macro-F1 and missed fires are the headline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Stratification keeps the class ratio identical, so differences between splits are not caused by class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phases use early stopping on validation loss with best weights restored.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Bias = 100 minus train accuracy; variance = train minus test accuracy. Model C underperformed on this split but scored 94.8% ± 2.4 under 5-fold cross-validation.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already peaked at epoch 1; fine-tuning did not improve validation loss. The single error disappears at any threshold from 0.1 to 0.4.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McNemar p-values are upper bounds because image-level predictions were not saved. Pre-training, not the transformer architecture, explains the gap to the from-scratch CNNs.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0.13-point difference with Lilhore et al. is well inside our confidence interval, so the honest reading is "similar", with a cleaner protocol on our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leaves AUC unchanged, so its gain is mainly a better-placed decision boundary. Focal loss lowered AUC by about 5 points in both pairings.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Wildfire Detection Using CNN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CNN baselines and a fine-tuned ViT-B/16 on the Kaggle FIRE dataset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ADB5BD"/>
                </a:solidFill>
              </a:rPr>
              <a:t>Shaurya Gupta · 2430010320 · Data Science · Batch 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 missed fire costs far more than a false alarm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Fire minutes old can be contained; an hour later it may not be.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Goal: a classifier for camera towers, drones and phones that flags fire in a single image.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Recall on the fire class is the metric that matters most.</a:t>
            </a:r>
            <a:endParaRPr lang="en-US" sz="1500" dirty="0"/>
          </a:p>
        </p:txBody>
      </p:sp>
      <p:pic>
        <p:nvPicPr>
          <p:cNvPr id="4" name="sample images" descr="02_sample_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143000"/>
            <a:ext cx="4663440" cy="18608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023360" y="3063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Top: fire. Bottom: no-fire. Samples from the dataset.</a:t>
            </a:r>
            <a:endParaRPr lang="en-US" sz="1000" dirty="0"/>
          </a:p>
        </p:txBody>
      </p:sp>
      <p:sp>
        <p:nvSpPr>
          <p:cNvPr id="6" name="stat images in the Kaggle FIRE dataset"/>
          <p:cNvSpPr/>
          <p:nvPr/>
        </p:nvSpPr>
        <p:spPr>
          <a:xfrm>
            <a:off x="457200" y="342900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233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images in the Kaggle FIRE dataset</a:t>
            </a:r>
            <a:endParaRPr lang="en-US" sz="1200" dirty="0"/>
          </a:p>
        </p:txBody>
      </p:sp>
      <p:sp>
        <p:nvSpPr>
          <p:cNvPr id="9" name="stat fire to no-fire imbalance"/>
          <p:cNvSpPr/>
          <p:nvPr/>
        </p:nvSpPr>
        <p:spPr>
          <a:xfrm>
            <a:off x="3246120" y="342900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2900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3.09 : 1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4233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fire to no-fire imbalance</a:t>
            </a:r>
            <a:endParaRPr lang="en-US" sz="1200" dirty="0"/>
          </a:p>
        </p:txBody>
      </p:sp>
      <p:sp>
        <p:nvSpPr>
          <p:cNvPr id="12" name="stat accuracy from always predicting &quot;fire&quot;"/>
          <p:cNvSpPr/>
          <p:nvPr/>
        </p:nvSpPr>
        <p:spPr>
          <a:xfrm>
            <a:off x="6035040" y="342900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1792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75.6%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4233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accuracy from always predicting "fire"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 stratified 70/15/15 split with the test set held out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280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Same fire share (75%) in every split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Test split never used for training or early stopping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Class weights: no-fire 2.06, fire 0.66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Augmentation on training images only: flip, rotation, zoom, brightness, contrast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All images resized to 224 × 224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Pipeline: frozen ViT features first, then partial fine-tuning</a:t>
            </a:r>
            <a:endParaRPr lang="en-US" sz="2200" dirty="0"/>
          </a:p>
        </p:txBody>
      </p:sp>
      <p:sp>
        <p:nvSpPr>
          <p:cNvPr id="3" name="step dot 1"/>
          <p:cNvSpPr/>
          <p:nvPr/>
        </p:nvSpPr>
        <p:spPr>
          <a:xfrm>
            <a:off x="960120" y="1234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card 1"/>
          <p:cNvSpPr/>
          <p:nvPr/>
        </p:nvSpPr>
        <p:spPr>
          <a:xfrm>
            <a:off x="457200" y="1874520"/>
            <a:ext cx="151790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Image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304288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224 × 224 RGB, augmented in training</a:t>
            </a:r>
            <a:endParaRPr lang="en-US" sz="1100" dirty="0"/>
          </a:p>
        </p:txBody>
      </p:sp>
      <p:sp>
        <p:nvSpPr>
          <p:cNvPr id="8" name="arrow 1"/>
          <p:cNvSpPr/>
          <p:nvPr/>
        </p:nvSpPr>
        <p:spPr>
          <a:xfrm>
            <a:off x="1993392" y="2532888"/>
            <a:ext cx="164592" cy="0"/>
          </a:xfrm>
          <a:prstGeom prst="line">
            <a:avLst/>
          </a:prstGeom>
          <a:noFill/>
          <a:ln w="19050">
            <a:solidFill>
              <a:srgbClr val="868E96"/>
            </a:solidFill>
            <a:prstDash val="solid"/>
            <a:tailEnd type="triangle"/>
          </a:ln>
        </p:spPr>
      </p:sp>
      <p:sp>
        <p:nvSpPr>
          <p:cNvPr id="9" name="step dot 2"/>
          <p:cNvSpPr/>
          <p:nvPr/>
        </p:nvSpPr>
        <p:spPr>
          <a:xfrm>
            <a:off x="2660904" y="1234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60904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 card 2"/>
          <p:cNvSpPr/>
          <p:nvPr/>
        </p:nvSpPr>
        <p:spPr>
          <a:xfrm>
            <a:off x="2157984" y="1874520"/>
            <a:ext cx="151790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67712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Patches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2304288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196 patches of 16 × 16 + [CLS] token</a:t>
            </a:r>
            <a:endParaRPr lang="en-US" sz="1100" dirty="0"/>
          </a:p>
        </p:txBody>
      </p:sp>
      <p:sp>
        <p:nvSpPr>
          <p:cNvPr id="14" name="arrow 2"/>
          <p:cNvSpPr/>
          <p:nvPr/>
        </p:nvSpPr>
        <p:spPr>
          <a:xfrm>
            <a:off x="3694176" y="2532888"/>
            <a:ext cx="164592" cy="0"/>
          </a:xfrm>
          <a:prstGeom prst="line">
            <a:avLst/>
          </a:prstGeom>
          <a:noFill/>
          <a:ln w="19050">
            <a:solidFill>
              <a:srgbClr val="868E96"/>
            </a:solidFill>
            <a:prstDash val="solid"/>
            <a:tailEnd type="triangle"/>
          </a:ln>
        </p:spPr>
      </p:sp>
      <p:sp>
        <p:nvSpPr>
          <p:cNvPr id="15" name="step dot 3"/>
          <p:cNvSpPr/>
          <p:nvPr/>
        </p:nvSpPr>
        <p:spPr>
          <a:xfrm>
            <a:off x="4361688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61688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tep card 3"/>
          <p:cNvSpPr/>
          <p:nvPr/>
        </p:nvSpPr>
        <p:spPr>
          <a:xfrm>
            <a:off x="3858768" y="1874520"/>
            <a:ext cx="151790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68496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ViT-B/16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68496" y="2304288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12 encoder blocks, ImageNet-21k pre-trained</a:t>
            </a:r>
            <a:endParaRPr lang="en-US" sz="1100" dirty="0"/>
          </a:p>
        </p:txBody>
      </p:sp>
      <p:sp>
        <p:nvSpPr>
          <p:cNvPr id="20" name="arrow 3"/>
          <p:cNvSpPr/>
          <p:nvPr/>
        </p:nvSpPr>
        <p:spPr>
          <a:xfrm>
            <a:off x="5394960" y="2532888"/>
            <a:ext cx="164592" cy="0"/>
          </a:xfrm>
          <a:prstGeom prst="line">
            <a:avLst/>
          </a:prstGeom>
          <a:noFill/>
          <a:ln w="19050">
            <a:solidFill>
              <a:srgbClr val="868E96"/>
            </a:solidFill>
            <a:prstDash val="solid"/>
            <a:tailEnd type="triangle"/>
          </a:ln>
        </p:spPr>
      </p:sp>
      <p:sp>
        <p:nvSpPr>
          <p:cNvPr id="21" name="step dot 4"/>
          <p:cNvSpPr/>
          <p:nvPr/>
        </p:nvSpPr>
        <p:spPr>
          <a:xfrm>
            <a:off x="6062472" y="1234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62472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step card 4"/>
          <p:cNvSpPr/>
          <p:nvPr/>
        </p:nvSpPr>
        <p:spPr>
          <a:xfrm>
            <a:off x="5559552" y="1874520"/>
            <a:ext cx="151790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Head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2304288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Dense 128 (GELU) → Dropout 0.4 → sigmoid</a:t>
            </a:r>
            <a:endParaRPr lang="en-US" sz="1100" dirty="0"/>
          </a:p>
        </p:txBody>
      </p:sp>
      <p:sp>
        <p:nvSpPr>
          <p:cNvPr id="26" name="arrow 4"/>
          <p:cNvSpPr/>
          <p:nvPr/>
        </p:nvSpPr>
        <p:spPr>
          <a:xfrm>
            <a:off x="7095744" y="2532888"/>
            <a:ext cx="164592" cy="0"/>
          </a:xfrm>
          <a:prstGeom prst="line">
            <a:avLst/>
          </a:prstGeom>
          <a:noFill/>
          <a:ln w="19050">
            <a:solidFill>
              <a:srgbClr val="868E96"/>
            </a:solidFill>
            <a:prstDash val="solid"/>
            <a:tailEnd type="triangle"/>
          </a:ln>
        </p:spPr>
      </p:sp>
      <p:sp>
        <p:nvSpPr>
          <p:cNvPr id="27" name="step dot 5"/>
          <p:cNvSpPr/>
          <p:nvPr/>
        </p:nvSpPr>
        <p:spPr>
          <a:xfrm>
            <a:off x="7763256" y="1234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63256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step card 5"/>
          <p:cNvSpPr/>
          <p:nvPr/>
        </p:nvSpPr>
        <p:spPr>
          <a:xfrm>
            <a:off x="7260336" y="1874520"/>
            <a:ext cx="151790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70064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Output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70064" y="2304288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P(fire), threshold 0.5</a:t>
            </a:r>
            <a:endParaRPr lang="en-US" sz="1100" dirty="0"/>
          </a:p>
        </p:txBody>
      </p:sp>
      <p:sp>
        <p:nvSpPr>
          <p:cNvPr id="32" name="phase 1"/>
          <p:cNvSpPr/>
          <p:nvPr/>
        </p:nvSpPr>
        <p:spPr>
          <a:xfrm>
            <a:off x="457200" y="3474720"/>
            <a:ext cx="39776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</a:rPr>
              <a:t>Phase 1 — feature extraction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Backbone frozen; 98.6 K trainable; LR 1e-3</a:t>
            </a:r>
            <a:endParaRPr lang="en-US" sz="1300" dirty="0"/>
          </a:p>
        </p:txBody>
      </p:sp>
      <p:sp>
        <p:nvSpPr>
          <p:cNvPr id="34" name="phase 2"/>
          <p:cNvSpPr/>
          <p:nvPr/>
        </p:nvSpPr>
        <p:spPr>
          <a:xfrm>
            <a:off x="4709160" y="3474720"/>
            <a:ext cx="39776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9204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</a:rPr>
              <a:t>Phase 2 — fine-tuning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Last 4 blocks unfrozen; 28.45 M trainable; LR 1e-5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Regularisation experiments map the bias–variance trade-off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keaways"/>
          <p:cNvSpPr/>
          <p:nvPr/>
        </p:nvSpPr>
        <p:spPr>
          <a:xfrm>
            <a:off x="6400800" y="1188720"/>
            <a:ext cx="2286000" cy="338328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537960" y="1325880"/>
            <a:ext cx="2011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Model A underfits: 67% test, below the 75.6% "always fire" baseline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Model B: 4.8-point train–test gap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L1 has the smallest gap (0.7 points)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ViT-B/16 is best on both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ViT-B/16 reaches 99.33% test accuracy with one missed fire</a:t>
            </a:r>
            <a:endParaRPr lang="en-US" sz="2200" dirty="0"/>
          </a:p>
        </p:txBody>
      </p:sp>
      <p:sp>
        <p:nvSpPr>
          <p:cNvPr id="3" name="stat test accuracy (149 / 150)"/>
          <p:cNvSpPr/>
          <p:nvPr/>
        </p:nvSpPr>
        <p:spPr>
          <a:xfrm>
            <a:off x="457200" y="114300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99.33%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47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test accuracy (149 / 150)</a:t>
            </a:r>
            <a:endParaRPr lang="en-US" sz="1200" dirty="0"/>
          </a:p>
        </p:txBody>
      </p:sp>
      <p:sp>
        <p:nvSpPr>
          <p:cNvPr id="6" name="stat macro-F1"/>
          <p:cNvSpPr/>
          <p:nvPr/>
        </p:nvSpPr>
        <p:spPr>
          <a:xfrm>
            <a:off x="2514600" y="114300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97480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947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macro-F1</a:t>
            </a:r>
            <a:endParaRPr lang="en-US" sz="1200" dirty="0"/>
          </a:p>
        </p:txBody>
      </p:sp>
      <p:sp>
        <p:nvSpPr>
          <p:cNvPr id="9" name="stat fires missed"/>
          <p:cNvSpPr/>
          <p:nvPr/>
        </p:nvSpPr>
        <p:spPr>
          <a:xfrm>
            <a:off x="457200" y="260604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113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107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fires missed</a:t>
            </a:r>
            <a:endParaRPr lang="en-US" sz="1200" dirty="0"/>
          </a:p>
        </p:txBody>
      </p:sp>
      <p:sp>
        <p:nvSpPr>
          <p:cNvPr id="12" name="stat false alarms"/>
          <p:cNvSpPr/>
          <p:nvPr/>
        </p:nvSpPr>
        <p:spPr>
          <a:xfrm>
            <a:off x="2514600" y="260604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9748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37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4107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false alarms</a:t>
            </a:r>
            <a:endParaRPr lang="en-US" sz="1200" dirty="0"/>
          </a:p>
        </p:txBody>
      </p:sp>
      <p:pic>
        <p:nvPicPr>
          <p:cNvPr id="15" name="confusion matrices" descr="15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88720"/>
            <a:ext cx="4023360" cy="1785823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663440" y="3063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Left: regularised CNN (Model C). Right: ViT-B/16. ROC-AUC for the ViT is 1.000.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With 150 test images, one error = 0.67 points; the 95% CI on accuracy is about 96.3–99.9%.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CO4: the ViT ties a frozen ResNet50 on the same test split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4864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4 notes"/>
          <p:cNvSpPr/>
          <p:nvPr/>
        </p:nvSpPr>
        <p:spPr>
          <a:xfrm>
            <a:off x="6217920" y="1188720"/>
            <a:ext cx="2468880" cy="342900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55080" y="132588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ViT = ResNet50 (identical scores)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vs MobileNetV2 and L1/L2: not significant (McNemar)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vs every other CNN: significant, p &lt; 0.05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ViT is 35× larger than MobileNetV2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CO4: matches the best published result on this dataset</a:t>
            </a:r>
            <a:endParaRPr lang="en-US" sz="2200" dirty="0"/>
          </a:p>
        </p:txBody>
      </p:sp>
      <p:sp>
        <p:nvSpPr>
          <p:cNvPr id="3" name="pub 1"/>
          <p:cNvSpPr/>
          <p:nvPr/>
        </p:nvSpPr>
        <p:spPr>
          <a:xfrm>
            <a:off x="457200" y="1188720"/>
            <a:ext cx="2596896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99.33%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This work: ViT-B/16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Single image; test split of 150 untouched originals</a:t>
            </a:r>
            <a:endParaRPr lang="en-US" sz="1200" dirty="0"/>
          </a:p>
        </p:txBody>
      </p:sp>
      <p:sp>
        <p:nvSpPr>
          <p:cNvPr id="7" name="pub 2"/>
          <p:cNvSpPr/>
          <p:nvPr/>
        </p:nvSpPr>
        <p:spPr>
          <a:xfrm>
            <a:off x="3273552" y="1188720"/>
            <a:ext cx="2596896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56432" y="1325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20574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Lilhore et al., Sci. Rep. 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26060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ViT + 3D-CNN + video clips; augmented before the split</a:t>
            </a:r>
            <a:endParaRPr lang="en-US" sz="1200" dirty="0"/>
          </a:p>
        </p:txBody>
      </p:sp>
      <p:sp>
        <p:nvSpPr>
          <p:cNvPr id="11" name="pub 3"/>
          <p:cNvSpPr/>
          <p:nvPr/>
        </p:nvSpPr>
        <p:spPr>
          <a:xfrm>
            <a:off x="6089904" y="1188720"/>
            <a:ext cx="2596896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72784" y="1325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85–94%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272784" y="20574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Their ResNet50 / VGG16 baselines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6060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Same dataset; our frozen ResNet50 scores 99.33%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 harder data, transformers drop sharply: a Swin model fell from 0.945 to 0.612 F1 on an unseen dataset (Hamdan et al., 2026). Our results are in-domain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CO5: SE attention helps; focal loss, as configured, does not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10312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 focal loss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25780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Focal loss (α = 0.75)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 SE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With SE</a:t>
            </a:r>
            <a:endParaRPr lang="en-US" sz="1200" dirty="0"/>
          </a:p>
        </p:txBody>
      </p:sp>
      <p:sp>
        <p:nvSpPr>
          <p:cNvPr id="7" name="ablation Baseline"/>
          <p:cNvSpPr/>
          <p:nvPr/>
        </p:nvSpPr>
        <p:spPr>
          <a:xfrm>
            <a:off x="2103120" y="1371600"/>
            <a:ext cx="30175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86000" y="14813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Baseline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4447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0.458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99339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macro-F1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AUC 0.975 · 36 false alarms</a:t>
            </a:r>
            <a:endParaRPr lang="en-US" sz="1100" dirty="0"/>
          </a:p>
        </p:txBody>
      </p:sp>
      <p:sp>
        <p:nvSpPr>
          <p:cNvPr id="12" name="ablation Focal only"/>
          <p:cNvSpPr/>
          <p:nvPr/>
        </p:nvSpPr>
        <p:spPr>
          <a:xfrm>
            <a:off x="5257800" y="1371600"/>
            <a:ext cx="30175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40680" y="14813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Focal only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4447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99339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macro-F1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AUC 0.922 · 21 false alarms</a:t>
            </a:r>
            <a:endParaRPr lang="en-US" sz="1100" dirty="0"/>
          </a:p>
        </p:txBody>
      </p:sp>
      <p:sp>
        <p:nvSpPr>
          <p:cNvPr id="17" name="ablation SE only"/>
          <p:cNvSpPr/>
          <p:nvPr/>
        </p:nvSpPr>
        <p:spPr>
          <a:xfrm>
            <a:off x="2103120" y="2743200"/>
            <a:ext cx="30175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286000" y="28529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 only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28163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0.897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336499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macro-F1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3611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AUC 0.974 · 8 false alarms</a:t>
            </a:r>
            <a:endParaRPr lang="en-US" sz="1100" dirty="0"/>
          </a:p>
        </p:txBody>
      </p:sp>
      <p:sp>
        <p:nvSpPr>
          <p:cNvPr id="22" name="ablation SE + Focal (proposed)"/>
          <p:cNvSpPr/>
          <p:nvPr/>
        </p:nvSpPr>
        <p:spPr>
          <a:xfrm>
            <a:off x="5257800" y="2743200"/>
            <a:ext cx="30175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40680" y="28529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 + Focal (proposed)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8163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0.816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336499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macro-F1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611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AUC 0.926 · 17 false alarms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 adds 5.1% parameters. Focal α was applied to the majority class (fire); the fix is α = 0.25 on fire.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Limitations and next steps</a:t>
            </a:r>
            <a:endParaRPr lang="en-US" sz="2200" dirty="0"/>
          </a:p>
        </p:txBody>
      </p:sp>
      <p:sp>
        <p:nvSpPr>
          <p:cNvPr id="3" name="limitations"/>
          <p:cNvSpPr/>
          <p:nvPr/>
        </p:nvSpPr>
        <p:spPr>
          <a:xfrm>
            <a:off x="457200" y="1143000"/>
            <a:ext cx="39776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Limitations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Only 150 test images; one seed per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No external dataset tested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Grad-CAM cell failed: no heatmaps yet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Threshold tuned on the test split</a:t>
            </a:r>
            <a:endParaRPr lang="en-US" sz="1400" dirty="0"/>
          </a:p>
        </p:txBody>
      </p:sp>
      <p:sp>
        <p:nvSpPr>
          <p:cNvPr id="5" name="next steps"/>
          <p:cNvSpPr/>
          <p:nvPr/>
        </p:nvSpPr>
        <p:spPr>
          <a:xfrm>
            <a:off x="4709160" y="1143000"/>
            <a:ext cx="39776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92040" y="128016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D9480F"/>
                </a:solidFill>
              </a:rPr>
              <a:t>Next steps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Test on FlameVision or DeepFire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Repeat runs over 5 seeds; report mean ± SD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Rerun ablation with corrected focal loss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Fix Grad-CAM; measure inference latency</a:t>
            </a:r>
            <a:endParaRPr lang="en-US" sz="1400" dirty="0"/>
          </a:p>
        </p:txBody>
      </p:sp>
      <p:sp>
        <p:nvSpPr>
          <p:cNvPr id="7" name="bottom line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80F"/>
                </a:solidFill>
              </a:rPr>
              <a:t>Bottom line: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99.33% result is credible in-domain, but an external test is needed before claiming real-world readiness.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Pre-training, not architecture, drives the result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ViT-B/16 and a frozen ResNet50 both reach 99.33%; SE attention is the CNN improvement that holds up.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ADB5BD"/>
                </a:solidFill>
              </a:rPr>
              <a:t>Questions?  ·  github.com/shauryagupta575/MUJ-DS-2430010320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ber">
  <a:themeElements>
    <a:clrScheme name="Ember">
      <a:dk1>
        <a:srgbClr val="1F1A17"/>
      </a:dk1>
      <a:lt1>
        <a:srgbClr val="FFFFFF"/>
      </a:lt1>
      <a:dk2>
        <a:srgbClr val="3A302B"/>
      </a:dk2>
      <a:lt2>
        <a:srgbClr val="F1F3F5"/>
      </a:lt2>
      <a:accent1>
        <a:srgbClr val="D9480F"/>
      </a:accent1>
      <a:accent2>
        <a:srgbClr val="F59F00"/>
      </a:accent2>
      <a:accent3>
        <a:srgbClr val="2B8A3E"/>
      </a:accent3>
      <a:accent4>
        <a:srgbClr val="868E96"/>
      </a:accent4>
      <a:accent5>
        <a:srgbClr val="C92A2A"/>
      </a:accent5>
      <a:accent6>
        <a:srgbClr val="495057"/>
      </a:accent6>
      <a:hlink>
        <a:srgbClr val="D9480F"/>
      </a:hlink>
      <a:folHlink>
        <a:srgbClr val="A63A0C"/>
      </a:folHlink>
    </a:clrScheme>
    <a:fontScheme name="Emb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 Detection Using CNN</dc:title>
  <dc:subject>PptxGenJS Presentation</dc:subject>
  <dc:creator>Shaurya Gupta</dc:creator>
  <cp:lastModifiedBy>Shaurya Gupta</cp:lastModifiedBy>
  <cp:revision>1</cp:revision>
  <dcterms:created xsi:type="dcterms:W3CDTF">2026-10-13T13:11:39Z</dcterms:created>
  <dcterms:modified xsi:type="dcterms:W3CDTF">2026-10-13T13:11:39Z</dcterms:modified>
</cp:coreProperties>
</file>